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C629"/>
                </a:solidFill>
                <a:latin typeface="Helvetica"/>
              </a:rPr>
              <a:t>FUSION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Helvetica"/>
              </a:rPr>
              <a:t>Treasury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F5F7FB"/>
                </a:solidFill>
                <a:latin typeface="Helvetica"/>
              </a:rPr>
              <a:t>System overview - how the whole thing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97280" cy="36576"/>
          </a:xfrm>
          <a:prstGeom prst="rect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F5F7FB"/>
                </a:solidFill>
                <a:latin typeface="Helvetica"/>
              </a:rPr>
              <a:t>A high-level walk-through of the Register - what it does,</a:t>
            </a:r>
          </a:p>
          <a:p>
            <a:pPr algn="l"/>
            <a:r>
              <a:rPr sz="1500" b="0" i="0">
                <a:solidFill>
                  <a:srgbClr val="F5F7FB"/>
                </a:solidFill>
                <a:latin typeface="Helvetica"/>
              </a:rPr>
              <a:t>how work moves through it, and where the AI helps.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896A7"/>
                </a:solidFill>
                <a:latin typeface="Helvetica"/>
              </a:rPr>
              <a:t>24 St. John Street, London EC1M 4AY  .  fusionpractices.com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21792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896A7"/>
                </a:solidFill>
                <a:latin typeface="Helvetica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What the Treasury Register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In one sentence, three parts.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46888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88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B2D50"/>
                </a:solidFill>
                <a:latin typeface="Helvetica"/>
              </a:rPr>
              <a:t>Cash sits idle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You have money that could
be earning yield.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90746.3333333335" y="3566160.0"/>
            <a:ext cx="283464.00000000047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92498" y="246888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The Register decides
where it goes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Under your rules.
Checked before it moves.
Every decision recorded.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17484.666666668" y="3566160.0"/>
            <a:ext cx="283464.0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19236" y="246888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889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B2D50"/>
                </a:solidFill>
                <a:latin typeface="Helvetica"/>
              </a:rPr>
              <a:t>Oracle Fusion moves
the money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Payment. Journal.
General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6B7A8C"/>
                </a:solidFill>
                <a:latin typeface="Helvetica"/>
              </a:rPr>
              <a:t>The Register sits between the money you have and the ledger that records it. It is the decision + control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One picture. Three parts. Today's demo shows the middle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Rules you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Everything the Register does is driven by config the treasurer edits - not by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Investment principles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How you spread cash by
rating - buckets and
sliders.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7953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Rating and policy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Rating bands, limits per
band, tenor caps.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Accounting events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Which lifecycle stages
fire an accounting event
and where they post.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2341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Ratings actions log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Downgrades, upgrades,
watch flags -
recorded with a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6B7A8C"/>
                </a:solidFill>
                <a:latin typeface="Helvetica"/>
              </a:rPr>
              <a:t>All four sit under the Control section - one click to reach them from anywhere in the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Nothing hard-wired. Nothing hidden in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The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Who you can trade with today. Every counterparty, every limit, every 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Counterparties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Approved list.
Status, ratings,
instruments allowed.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7953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Ultimate parent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Every counterparty
shows its group.
Group limits enforced.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Rating with source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"AA-" from Fitch,
as of 4 Aug 2026.
Provider named.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2341" y="2194560"/>
            <a:ext cx="2693593" cy="237744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Instruments + ISINs</a:t>
            </a:r>
          </a:p>
          <a:p>
            <a:pPr algn="ctr"/>
            <a:r>
              <a:rPr sz="1000">
                <a:solidFill>
                  <a:srgbClr val="3A4A5C"/>
                </a:solidFill>
                <a:latin typeface="Helvetica"/>
              </a:rPr>
              <a:t>
DEPOSIT, MMF, GILT,
FX_FORWARD - each with
its ISIN and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6B7A8C"/>
                </a:solidFill>
                <a:latin typeface="Helvetica"/>
              </a:rPr>
              <a:t>Every field on screen names its source. A treasurer or auditor never asks "where does this come from?" - it's on the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The book is the state of the world. Every deal on screen is measured against the same 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Plan the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The system reads your rules, reads the book, and suggests where today's cash could 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Blended plan</a:t>
            </a:r>
          </a:p>
          <a:p>
            <a:pPr algn="ctr"/>
            <a:r>
              <a:rPr sz="1100">
                <a:solidFill>
                  <a:srgbClr val="F5F7FB"/>
                </a:solidFill>
                <a:latin typeface="Helvetica"/>
              </a:rPr>
              <a:t>
Fits every rule you set.
Spread across your mix.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3832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Higher yield</a:t>
            </a:r>
          </a:p>
          <a:p>
            <a:pPr algn="ctr"/>
            <a:r>
              <a:rPr sz="1050">
                <a:solidFill>
                  <a:srgbClr val="3A4A5C"/>
                </a:solidFill>
                <a:latin typeface="Helvetica"/>
              </a:rPr>
              <a:t>
Same rules, but shifts 20%
down one rating band.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57200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1B2D50"/>
                </a:solidFill>
                <a:latin typeface="Helvetica"/>
              </a:rPr>
              <a:t>Tighter concentration</a:t>
            </a:r>
          </a:p>
          <a:p>
            <a:pPr algn="ctr"/>
            <a:r>
              <a:rPr sz="1050">
                <a:solidFill>
                  <a:srgbClr val="3A4A5C"/>
                </a:solidFill>
                <a:latin typeface="Helvetica"/>
              </a:rPr>
              <a:t>
Same rules, but spreads across
more names per bucket.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749807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2D50"/>
                </a:solidFill>
                <a:latin typeface="Helvetica"/>
              </a:rPr>
              <a:t>What you do: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71576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  <a:latin typeface="Helvetica"/>
              </a:rPr>
              <a:t>Pick a plan (or all three side by side).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40156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  <a:latin typeface="Helvetica"/>
              </a:rPr>
              <a:t>Click Initiate on any single allocation, or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0" y="408736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  <a:latin typeface="Helvetica"/>
              </a:rPr>
              <a:t>Initiate all N at once - one click sends every allocation through the checks in sequence.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477316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709160"/>
            <a:ext cx="7132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  <a:latin typeface="Helvetica"/>
              </a:rPr>
              <a:t>Deals that pass are recorded; any that fail land in the exception queue.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The planner never suggests a number the six-check gate would refuse. Everything on screen is already vetted.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Every deal goes through six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Automatic. Under a second. Refuses anything outside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108960"/>
          </a:xfrm>
          <a:prstGeom prst="roundRect">
            <a:avLst>
              <a:gd name="adj" fmla="val 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74320"/>
          <a:lstStyle/>
          <a:p>
            <a:pPr algn="ctr"/>
            <a:r>
              <a:rPr sz="1600" b="1">
                <a:solidFill>
                  <a:srgbClr val="FFC629"/>
                </a:solidFill>
                <a:latin typeface="Helvetica"/>
              </a:rPr>
              <a:t>THE SIX-CHECK GATE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1.  Is the counterparty active?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2.  Is this instrument allowed for them?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3.  Does the amount fit within their limit?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4.  Does it fit within their group's limit?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5.  Is the term within their tenor cap?</a:t>
            </a:r>
          </a:p>
          <a:p>
            <a:pPr algn="l"/>
            <a:r>
              <a:rPr sz="1200">
                <a:solidFill>
                  <a:srgbClr val="FFFFFF"/>
                </a:solidFill>
                <a:latin typeface="Helvetica"/>
              </a:rPr>
              <a:t>   6.  Does it keep us under our concentration cap?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2004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Deal in</a:t>
            </a:r>
          </a:p>
          <a:p>
            <a:pPr algn="ctr"/>
            <a:r>
              <a:rPr sz="900">
                <a:solidFill>
                  <a:srgbClr val="3A4A5C"/>
                </a:solidFill>
                <a:latin typeface="Helvetica"/>
              </a:rPr>
              <a:t>
5 fields:
amount, term, rate,
counterparty, instrument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3749039"/>
            <a:ext cx="91440" cy="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966960" y="32004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One result out</a:t>
            </a:r>
          </a:p>
          <a:p>
            <a:pPr algn="ctr"/>
            <a:r>
              <a:rPr sz="900">
                <a:solidFill>
                  <a:srgbClr val="3A4A5C"/>
                </a:solidFill>
                <a:latin typeface="Helvetica"/>
              </a:rPr>
              <a:t>
Pass, refuse, or
warn with override.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0" y="3749039"/>
            <a:ext cx="91440" cy="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5577840"/>
            <a:ext cx="114601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6B7A8C"/>
                </a:solidFill>
                <a:latin typeface="Helvetica"/>
              </a:rPr>
              <a:t>The result is recorded on the deal. When the auditor asks, we show the checks as they stood on the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"Compliant when booked" is a fact, not a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Deal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Eight stages, four of them accounting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Proposed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4273.87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7425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Approved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5939.7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9091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Executed</a:t>
            </a:r>
          </a:p>
        </p:txBody>
      </p:sp>
      <p:sp>
        <p:nvSpPr>
          <p:cNvPr id="10" name="Oval 9"/>
          <p:cNvSpPr/>
          <p:nvPr/>
        </p:nvSpPr>
        <p:spPr>
          <a:xfrm>
            <a:off x="3841908" y="3200400"/>
            <a:ext cx="182880" cy="18288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17605.62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90757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59271.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32423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Settled</a:t>
            </a:r>
          </a:p>
        </p:txBody>
      </p:sp>
      <p:sp>
        <p:nvSpPr>
          <p:cNvPr id="15" name="Oval 14"/>
          <p:cNvSpPr/>
          <p:nvPr/>
        </p:nvSpPr>
        <p:spPr>
          <a:xfrm>
            <a:off x="6725240" y="3200400"/>
            <a:ext cx="182880" cy="18288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500937.37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74089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Accrued</a:t>
            </a:r>
          </a:p>
        </p:txBody>
      </p:sp>
      <p:sp>
        <p:nvSpPr>
          <p:cNvPr id="18" name="Oval 17"/>
          <p:cNvSpPr/>
          <p:nvPr/>
        </p:nvSpPr>
        <p:spPr>
          <a:xfrm>
            <a:off x="8166906" y="3200400"/>
            <a:ext cx="182880" cy="18288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942603.2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15755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Matured</a:t>
            </a:r>
          </a:p>
        </p:txBody>
      </p:sp>
      <p:sp>
        <p:nvSpPr>
          <p:cNvPr id="21" name="Oval 20"/>
          <p:cNvSpPr/>
          <p:nvPr/>
        </p:nvSpPr>
        <p:spPr>
          <a:xfrm>
            <a:off x="9608572" y="3200400"/>
            <a:ext cx="182880" cy="18288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384269.125" y="2720340.0"/>
            <a:ext cx="73152.0" cy="0.0"/>
          </a:xfrm>
          <a:prstGeom prst="line">
            <a:avLst/>
          </a:prstGeom>
          <a:ln w="1524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57421" y="2286000"/>
            <a:ext cx="1368513" cy="86868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Closed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1146017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6B7A8C"/>
                </a:solidFill>
                <a:latin typeface="Helvetica"/>
              </a:rPr>
              <a:t>Navy stages fire an accounting event (marked in gold). Cream stages are workflow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B2D50"/>
                </a:solidFill>
                <a:latin typeface="Helvetica"/>
              </a:rPr>
              <a:t>Alongside the main lifecycle, three side flows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93776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Amendment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Rate, tenor or principal
change. Prior accruals
reversed; new posted.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93776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Breach response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Hold to maturity,
break early, reduce,
or roll.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93776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Confirmation mismatch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Fields disagree.
Accept, dispute,
or reject.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Amendments never break the audit trail. Reversals are new rows; originals are never mutated.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Handle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Not every deal glides through. The Register makes the response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2D50"/>
                </a:solidFill>
                <a:latin typeface="Helvetica"/>
              </a:rPr>
              <a:t>A breach - four possible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HOLD to maturity</a:t>
            </a:r>
          </a:p>
          <a:p>
            <a:pPr algn="ctr"/>
            <a:r>
              <a:rPr sz="950">
                <a:solidFill>
                  <a:srgbClr val="F5F7FB"/>
                </a:solidFill>
                <a:latin typeface="Helvetica"/>
              </a:rPr>
              <a:t>
Stop the alert clock;
position stays flagged.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46888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BREAK early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Deal moves to BREAKING;
instruct + confirm.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33756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REDUCE</a:t>
            </a:r>
          </a:p>
          <a:p>
            <a:pPr algn="ctr"/>
            <a:r>
              <a:rPr sz="950">
                <a:solidFill>
                  <a:srgbClr val="F5F7FB"/>
                </a:solidFill>
                <a:latin typeface="Helvetica"/>
              </a:rPr>
              <a:t>
Amendment to the largest
amount that would clear.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33756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ROLL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Marks for a roll to a
different name on maturity.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2D50"/>
                </a:solidFill>
                <a:latin typeface="Helvetica"/>
              </a:rPr>
              <a:t>A confirmation that doesn't match - three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5623560" cy="6858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Accept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Amend the deal to the
confirmed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337560"/>
            <a:ext cx="5623560" cy="6858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Dispute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Contact the bank;
keep the confirmation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06240"/>
            <a:ext cx="5623560" cy="6858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1B2D50"/>
                </a:solidFill>
                <a:latin typeface="Helvetica"/>
              </a:rPr>
              <a:t>Reject</a:t>
            </a:r>
          </a:p>
          <a:p>
            <a:pPr algn="ctr"/>
            <a:r>
              <a:rPr sz="950">
                <a:solidFill>
                  <a:srgbClr val="3A4A5C"/>
                </a:solidFill>
                <a:latin typeface="Helvetica"/>
              </a:rPr>
              <a:t>
Confirmation is wrong;
discard with an audit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The Register never silently accepts a breach. Every response is a real write, recorded against the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Accounting events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Deal moment -&gt; our Connector -&gt; your GL. No Oracle Integration Cloud in the middle.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2693593" cy="13716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A moment happens</a:t>
            </a:r>
          </a:p>
          <a:p>
            <a:pPr algn="ctr"/>
            <a:r>
              <a:rPr sz="1050">
                <a:solidFill>
                  <a:srgbClr val="3A4A5C"/>
                </a:solidFill>
                <a:latin typeface="Helvetica"/>
              </a:rPr>
              <a:t>
Deal executed.
Deal settled.
Interest accrued.
Deal matured.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77641.75" y="3063240.0"/>
            <a:ext cx="192024.0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87953" y="2377440"/>
            <a:ext cx="2693593" cy="13716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The Register decides</a:t>
            </a:r>
          </a:p>
          <a:p>
            <a:pPr algn="ctr"/>
            <a:r>
              <a:rPr sz="1050">
                <a:solidFill>
                  <a:srgbClr val="3A4A5C"/>
                </a:solidFill>
                <a:latin typeface="Helvetica"/>
              </a:rPr>
              <a:t>
Is this stage an accounting
event? (Yes / No - a switch
the treasurer configures.)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99835.5" y="3063240.0"/>
            <a:ext cx="192024.0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0147" y="2377440"/>
            <a:ext cx="2693593" cy="137160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Register Connector</a:t>
            </a:r>
          </a:p>
          <a:p>
            <a:pPr algn="ctr"/>
            <a:r>
              <a:rPr sz="1000" b="1">
                <a:solidFill>
                  <a:srgbClr val="FFC629"/>
                </a:solidFill>
                <a:latin typeface="Helvetica"/>
              </a:rPr>
              <a:t>
FIRST-PARTY</a:t>
            </a:r>
          </a:p>
          <a:p>
            <a:pPr algn="ctr"/>
            <a:r>
              <a:rPr sz="1000" i="1">
                <a:solidFill>
                  <a:srgbClr val="F5F7FB"/>
                </a:solidFill>
                <a:latin typeface="Helvetica"/>
              </a:rPr>
              <a:t>
Built into the Register.
No Oracle Integration Cloud.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22029.25" y="3063240.0"/>
            <a:ext cx="192024.0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32341" y="2377440"/>
            <a:ext cx="2693593" cy="137160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1B2D50"/>
                </a:solidFill>
                <a:latin typeface="Helvetica"/>
              </a:rPr>
              <a:t>Your GL</a:t>
            </a:r>
          </a:p>
          <a:p>
            <a:pPr algn="ctr"/>
            <a:r>
              <a:rPr sz="1050">
                <a:solidFill>
                  <a:srgbClr val="3A4A5C"/>
                </a:solidFill>
                <a:latin typeface="Helvetica"/>
              </a:rPr>
              <a:t>
Oracle Fusion Accounting Hub.
Oracle Fusion GL.
Oracle EBS.
Your own REST endpoint.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6B7A8C"/>
                </a:solidFill>
                <a:latin typeface="Helvetica"/>
              </a:rPr>
              <a:t>You choose the destination once in Control. Toggle a stage on or off - the change flows through immediately.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The Connector is our IP. One less thing you buy from Oracle to make this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See how the book is performing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Realised income, honest. Not projected. Every figure ties back to a deal.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B2D50"/>
                </a:solidFill>
                <a:latin typeface="Helvetica"/>
              </a:rPr>
              <a:t>Income to date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Total interest earned.
Weighted average rate.
Days recognised.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90746.3333333335" y="3383280.0"/>
            <a:ext cx="283464.00000000047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2498" y="228600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B2D50"/>
                </a:solidFill>
                <a:latin typeface="Helvetica"/>
              </a:rPr>
              <a:t>Where it came from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By counterparty.
By rating band.
Month-by-month cumulative.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17484.666666668" y="3383280.0"/>
            <a:ext cx="283464.0" cy="0.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19236" y="228600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600" b="1">
                <a:solidFill>
                  <a:srgbClr val="1B2D50"/>
                </a:solidFill>
                <a:latin typeface="Helvetica"/>
              </a:rPr>
              <a:t>AI-drafted insights</a:t>
            </a:r>
          </a:p>
          <a:p>
            <a:pPr algn="ctr"/>
            <a:r>
              <a:rPr sz="1100">
                <a:solidFill>
                  <a:srgbClr val="3A4A5C"/>
                </a:solidFill>
                <a:latin typeface="Helvetica"/>
              </a:rPr>
              <a:t>
Three lenses -
Yield, Diversification, Safety.
Types in front of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6B7A8C"/>
                </a:solidFill>
                <a:latin typeface="Helvetica"/>
              </a:rPr>
              <a:t>Plus a projection card - if this month's pace holds, you'll earn GBP X over the next 3, 6, or 12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Performance reports what was recognised, never what was hoped for.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AI features - all six, every one paired with 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The model proposes; the deterministic engine disposes. If the model is down, the workflow still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488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Planner narrator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Suggests the blended plan
and writes the recommendation.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rule-based ranker.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62018" y="21488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Advisory nightly ranker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Ranks the day's candidates.
Writes a rationale.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weighted-score picker + 3-check validation.</a:t>
            </a:r>
          </a:p>
        </p:txBody>
      </p:sp>
      <p:sp>
        <p:nvSpPr>
          <p:cNvPr id="8" name="Oval 7"/>
          <p:cNvSpPr/>
          <p:nvPr/>
        </p:nvSpPr>
        <p:spPr>
          <a:xfrm>
            <a:off x="4399178" y="22860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8276" y="21488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Confirmation parser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Reads a bank email or SWIFT.
Extracts the fields.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human enters manually. Six checks gate the ingest.</a:t>
            </a:r>
          </a:p>
        </p:txBody>
      </p:sp>
      <p:sp>
        <p:nvSpPr>
          <p:cNvPr id="10" name="Oval 9"/>
          <p:cNvSpPr/>
          <p:nvPr/>
        </p:nvSpPr>
        <p:spPr>
          <a:xfrm>
            <a:off x="8295436" y="22860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9776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Rating-change what-if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Classifies each open deal after
a hypothetical downgrade.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CheckEngine result read directly.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1148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2018" y="39776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Performance insights (3 lenses)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Drafts prose on the same numbers
- Yield, Diversification, Safety.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rule-based summary card.</a:t>
            </a:r>
          </a:p>
        </p:txBody>
      </p:sp>
      <p:sp>
        <p:nvSpPr>
          <p:cNvPr id="14" name="Oval 13"/>
          <p:cNvSpPr/>
          <p:nvPr/>
        </p:nvSpPr>
        <p:spPr>
          <a:xfrm>
            <a:off x="4399178" y="41148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8276" y="3977640"/>
            <a:ext cx="3667658" cy="164592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 algn="l"/>
            <a:r>
              <a:rPr sz="1300" b="1">
                <a:solidFill>
                  <a:srgbClr val="1B2D50"/>
                </a:solidFill>
                <a:latin typeface="Helvetica"/>
              </a:rPr>
              <a:t>   Nightly digest</a:t>
            </a:r>
          </a:p>
          <a:p>
            <a:pPr algn="l"/>
            <a:r>
              <a:rPr sz="1050">
                <a:solidFill>
                  <a:srgbClr val="3A4A5C"/>
                </a:solidFill>
                <a:latin typeface="Helvetica"/>
              </a:rPr>
              <a:t>
One-line summary of what
the nightly job produced.</a:t>
            </a:r>
          </a:p>
          <a:p>
            <a:pPr algn="l"/>
            <a:r>
              <a:rPr sz="950" i="1">
                <a:solidFill>
                  <a:srgbClr val="6B7A8C"/>
                </a:solidFill>
                <a:latin typeface="Helvetica"/>
              </a:rPr>
              <a:t>
Fallback: raw job output shown.</a:t>
            </a:r>
          </a:p>
        </p:txBody>
      </p:sp>
      <p:sp>
        <p:nvSpPr>
          <p:cNvPr id="16" name="Oval 15"/>
          <p:cNvSpPr/>
          <p:nvPr/>
        </p:nvSpPr>
        <p:spPr>
          <a:xfrm>
            <a:off x="8295436" y="4114800"/>
            <a:ext cx="109728" cy="109728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Every AI feature has a deterministic fallback. Nothing is only-AI. Nothing invents a figure.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C629"/>
                </a:solidFill>
                <a:latin typeface="Helvetic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36576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The Register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8961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1">
                <a:solidFill>
                  <a:srgbClr val="6B7A8C"/>
                </a:solidFill>
                <a:latin typeface="Helvetica"/>
              </a:rPr>
              <a:t>Our own integration layer - carries every outbound integration the Register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2D50"/>
                </a:solidFill>
                <a:latin typeface="Helvetica"/>
              </a:rPr>
              <a:t>What the Connector carries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67004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Accounting events (deal lifecycle)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08152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Bank connectivity (statements + confirmations)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9300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Cash position pulls from EPM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0448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Custom endpoints as they are added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28600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Register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
Connector</a:t>
            </a:r>
          </a:p>
          <a:p>
            <a:pPr algn="ctr"/>
            <a:r>
              <a:rPr sz="1100" b="1">
                <a:solidFill>
                  <a:srgbClr val="FFC629"/>
                </a:solidFill>
                <a:latin typeface="Helvetica"/>
              </a:rPr>
              <a:t>
FIRST-PARTY</a:t>
            </a:r>
          </a:p>
          <a:p>
            <a:pPr algn="ctr"/>
            <a:r>
              <a:rPr sz="1000" i="1">
                <a:solidFill>
                  <a:srgbClr val="F5F7FB"/>
                </a:solidFill>
                <a:latin typeface="Helvetica"/>
              </a:rPr>
              <a:t>
Built in.
Not Oracle Integration Cloud.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2D50"/>
                </a:solidFill>
                <a:latin typeface="Helvetica"/>
              </a:rPr>
              <a:t>Where it can post to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267004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060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Oracle Fusion Accounting Hub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08152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01752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Oracle Fusion General Ledger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49300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4290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Oracle EBS General Ledger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3904488"/>
            <a:ext cx="137160" cy="137160"/>
          </a:xfrm>
          <a:prstGeom prst="ellipse">
            <a:avLst/>
          </a:prstGeom>
          <a:solidFill>
            <a:srgbClr val="FFC629"/>
          </a:solidFill>
          <a:ln>
            <a:solidFill>
              <a:srgbClr val="FFC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404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Helvetica"/>
              </a:rPr>
              <a:t>Any custom REST endpoint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3474720"/>
            <a:ext cx="822960" cy="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06640" y="3474720"/>
            <a:ext cx="457200" cy="0"/>
          </a:xfrm>
          <a:prstGeom prst="line">
            <a:avLst/>
          </a:prstGeom>
          <a:ln w="31750">
            <a:solidFill>
              <a:srgbClr val="1B2D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Reusable across every Fusion Practices product. One integration layer, our 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B2D50"/>
                </a:solidFill>
                <a:latin typeface="Helvetica"/>
              </a:rPr>
              <a:t>The whole system, in a sentence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194560"/>
            <a:ext cx="11460175" cy="1463040"/>
          </a:xfrm>
          <a:prstGeom prst="roundRect">
            <a:avLst>
              <a:gd name="adj" fmla="val 8000"/>
            </a:avLst>
          </a:prstGeom>
          <a:solidFill>
            <a:srgbClr val="1B2D50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l"/>
            <a:r>
              <a:rPr sz="3000" b="1">
                <a:solidFill>
                  <a:srgbClr val="FFC629"/>
                </a:solidFill>
                <a:latin typeface="Helvetica"/>
              </a:rPr>
              <a:t>The Register controls</a:t>
            </a:r>
          </a:p>
          <a:p>
            <a:pPr algn="l"/>
            <a:r>
              <a:rPr sz="1400">
                <a:solidFill>
                  <a:srgbClr val="F5F7FB"/>
                </a:solidFill>
                <a:latin typeface="Helvetica"/>
              </a:rPr>
              <a:t>Rules -&gt; planner -&gt; six-check gate -&gt; deal booked, signed, integrated.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931920"/>
            <a:ext cx="11460175" cy="1463040"/>
          </a:xfrm>
          <a:prstGeom prst="roundRect">
            <a:avLst>
              <a:gd name="adj" fmla="val 8000"/>
            </a:avLst>
          </a:prstGeom>
          <a:solidFill>
            <a:srgbClr val="EBEFF5"/>
          </a:solidFill>
          <a:ln w="12700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l"/>
            <a:r>
              <a:rPr sz="3000" b="1">
                <a:solidFill>
                  <a:srgbClr val="1B2D50"/>
                </a:solidFill>
                <a:latin typeface="Helvetica"/>
              </a:rPr>
              <a:t>Fusion moves</a:t>
            </a:r>
          </a:p>
          <a:p>
            <a:pPr algn="l"/>
            <a:r>
              <a:rPr sz="1400">
                <a:solidFill>
                  <a:srgbClr val="3A4A5C"/>
                </a:solidFill>
                <a:latin typeface="Helvetica"/>
              </a:rPr>
              <a:t>Payment. Journal. General Ledger.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394960"/>
            <a:ext cx="2762173" cy="502920"/>
          </a:xfrm>
          <a:prstGeom prst="roundRect">
            <a:avLst>
              <a:gd name="adj" fmla="val 15000"/>
            </a:avLst>
          </a:prstGeom>
          <a:solidFill>
            <a:srgbClr val="EBEFF5"/>
          </a:solidFill>
          <a:ln w="9525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D50"/>
                </a:solidFill>
                <a:latin typeface="Helvetica"/>
              </a:rPr>
              <a:t>Every deal passes the six-check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5093" y="5394960"/>
            <a:ext cx="2762173" cy="502920"/>
          </a:xfrm>
          <a:prstGeom prst="roundRect">
            <a:avLst>
              <a:gd name="adj" fmla="val 15000"/>
            </a:avLst>
          </a:prstGeom>
          <a:solidFill>
            <a:srgbClr val="EBEFF5"/>
          </a:solidFill>
          <a:ln w="9525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D50"/>
                </a:solidFill>
                <a:latin typeface="Helvetica"/>
              </a:rPr>
              <a:t>Every integration flows through our Connector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4427" y="5394960"/>
            <a:ext cx="2762173" cy="502920"/>
          </a:xfrm>
          <a:prstGeom prst="roundRect">
            <a:avLst>
              <a:gd name="adj" fmla="val 15000"/>
            </a:avLst>
          </a:prstGeom>
          <a:solidFill>
            <a:srgbClr val="EBEFF5"/>
          </a:solidFill>
          <a:ln w="9525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D50"/>
                </a:solidFill>
                <a:latin typeface="Helvetica"/>
              </a:rPr>
              <a:t>Every AI feature has a rule-based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3761" y="5394960"/>
            <a:ext cx="2762173" cy="502920"/>
          </a:xfrm>
          <a:prstGeom prst="roundRect">
            <a:avLst>
              <a:gd name="adj" fmla="val 15000"/>
            </a:avLst>
          </a:prstGeom>
          <a:solidFill>
            <a:srgbClr val="EBEFF5"/>
          </a:solidFill>
          <a:ln w="9525"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D50"/>
                </a:solidFill>
                <a:latin typeface="Helvetica"/>
              </a:rPr>
              <a:t>Every visible figure names its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11460175" cy="502920"/>
          </a:xfrm>
          <a:prstGeom prst="roundRect">
            <a:avLst>
              <a:gd name="adj" fmla="val 15000"/>
            </a:avLst>
          </a:prstGeom>
          <a:solidFill>
            <a:srgbClr val="1B2D50"/>
          </a:solidFill>
          <a:ln>
            <a:solidFill>
              <a:srgbClr val="1B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Now the demo. Same flow,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64008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896A7"/>
                </a:solidFill>
                <a:latin typeface="Helvetica"/>
              </a:rPr>
              <a:t>Fusion Practices  .  Treasury Register  .  System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83680"/>
            <a:ext cx="10058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8896A7"/>
                </a:solidFill>
                <a:latin typeface="Helvetica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