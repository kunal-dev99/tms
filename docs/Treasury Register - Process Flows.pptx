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4747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Treasury</a:t>
            </a:r>
          </a:p>
          <a:p>
            <a:pPr algn="l"/>
            <a:r>
              <a:rPr sz="48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Process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FAF5EE"/>
                </a:solidFill>
              </a:rPr>
              <a:t>How work moves through the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688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A5321F"/>
                </a:solidFill>
              </a:rPr>
              <a:t>How to use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017520"/>
            <a:ext cx="64008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1A17"/>
                </a:solidFill>
              </a:rPr>
              <a:t>Ten process flows plus a summary. Each diagram is the high-level shape of one workflow - the boxes are the user's steps or the system's steps; arrows show order; diamonds show decisions.</a:t>
            </a:r>
          </a:p>
          <a:p>
            <a:pPr algn="l"/>
            <a:r>
              <a:rPr sz="1200" b="0" i="0">
                <a:solidFill>
                  <a:srgbClr val="1F1A17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1F1A17"/>
                </a:solidFill>
              </a:rPr>
              <a:t>The Sep-Oct build is captured across these flows: the planner as one screen, the six-check gate as the control moment, the Register's Connector as the integration surface (not OIC), and the AI features as "proposes / disposes" always paired.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0350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5F57"/>
                </a:solidFill>
              </a:rPr>
              <a:t>Fusion Practices  .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2 of 12   .  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The whole flow, in three 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EPM plans. Register controls. Fusion moves.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11460175" cy="1280160"/>
          </a:xfrm>
          <a:prstGeom prst="rect">
            <a:avLst/>
          </a:prstGeom>
          <a:solidFill>
            <a:srgbClr val="EFE6DC"/>
          </a:solidFill>
          <a:ln>
            <a:solidFill>
              <a:srgbClr val="EF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EPM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11460175" cy="1280160"/>
          </a:xfrm>
          <a:prstGeom prst="rect">
            <a:avLst/>
          </a:prstGeom>
          <a:solidFill>
            <a:srgbClr val="F9E3DB"/>
          </a:solidFill>
          <a:ln>
            <a:solidFill>
              <a:srgbClr val="F9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97680"/>
            <a:ext cx="11460175" cy="1280160"/>
          </a:xfrm>
          <a:prstGeom prst="rect">
            <a:avLst/>
          </a:prstGeom>
          <a:solidFill>
            <a:srgbClr val="E6EFE8"/>
          </a:solidFill>
          <a:ln>
            <a:solidFill>
              <a:srgbClr val="E6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Cash positioning
(where the money 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96596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Cash forecast
(where it will be)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834640"/>
            <a:ext cx="0" cy="22860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88920" y="2880360"/>
            <a:ext cx="27432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"You have GBP 8m idle"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Investment
principles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611880"/>
            <a:ext cx="274320" cy="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320040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Planner: blended
plan + variants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611880"/>
            <a:ext cx="274320" cy="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46320" y="320040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Six-check gate
(control moment)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0" y="3611880"/>
            <a:ext cx="274320" cy="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49440" y="320040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Deal booked
+ signed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3611880"/>
            <a:ext cx="274320" cy="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320040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Accounting event
via Register Connector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95560" y="4023360"/>
            <a:ext cx="0" cy="27432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43484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Cash Management
(bank accounts)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443484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Payments
(instruct + move)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43484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Accounting Hub
(SLA + drill-back)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434840"/>
            <a:ext cx="210312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General Ledger
(system of record)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852160"/>
            <a:ext cx="11460175" cy="50292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TAKEAWAY   .   Three separate systems, one continuous flow. The Register is the middle lane, deliberately - it does not overreach.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3 of 12   .   DEAL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One deal,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From proposal to close - eight stages, four of them accounting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Ticket recorded.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Six checks passed.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8276.87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03996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3996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Signed by a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different role.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96513.7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2233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EXECUTED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2233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Trade date.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Accounting event.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34750.62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80470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470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Confirmation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arrived, matched.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72987.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8707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SETTLED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8707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Value-date cash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movement. Event.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11224.37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56944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ACCRUED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6944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Nightly accrual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runs. Event.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49461.2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95181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5181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Principal + interest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final. Event.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87698.125" y="2308860.0"/>
            <a:ext cx="45720.0" cy="0.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33418" y="1920240"/>
            <a:ext cx="1392516" cy="7772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CLOSED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3418" y="2743200"/>
            <a:ext cx="13925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0" i="1">
                <a:solidFill>
                  <a:srgbClr val="1F1A17"/>
                </a:solidFill>
              </a:rPr>
              <a:t>Three-way match.</a:t>
            </a:r>
          </a:p>
          <a:p>
            <a:pPr algn="ctr"/>
            <a:r>
              <a:rPr sz="850" b="0" i="1">
                <a:solidFill>
                  <a:srgbClr val="1F1A17"/>
                </a:solidFill>
              </a:rPr>
              <a:t>Headroom returns.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383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5F57"/>
                </a:solidFill>
              </a:rPr>
              <a:t>Brick-filled stages fire an accounting event. Cream stages are workflow-only.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A5321F"/>
                </a:solidFill>
              </a:rPr>
              <a:t>What can happen alongside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343400"/>
            <a:ext cx="2468880" cy="502920"/>
          </a:xfrm>
          <a:prstGeom prst="roundRect">
            <a:avLst>
              <a:gd name="adj" fmla="val 15000"/>
            </a:avLst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Amendment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92040"/>
            <a:ext cx="24688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Rate / tenor / principal change. Prior accruals reversed; new posted.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4343400"/>
            <a:ext cx="2468880" cy="502920"/>
          </a:xfrm>
          <a:prstGeom prst="roundRect">
            <a:avLst>
              <a:gd name="adj" fmla="val 15000"/>
            </a:avLst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Breach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892040"/>
            <a:ext cx="24688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Rating change or a live rule breach. Response: hold / break / reduce / roll.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343400"/>
            <a:ext cx="2468880" cy="502920"/>
          </a:xfrm>
          <a:prstGeom prst="roundRect">
            <a:avLst>
              <a:gd name="adj" fmla="val 15000"/>
            </a:avLst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Confirmation mismatch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92040"/>
            <a:ext cx="24688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Fields disagree. Reconcile: accept / dispute / reject.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4343400"/>
            <a:ext cx="2468880" cy="502920"/>
          </a:xfrm>
          <a:prstGeom prst="roundRect">
            <a:avLst>
              <a:gd name="adj" fmla="val 15000"/>
            </a:avLst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Rating change what-if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892040"/>
            <a:ext cx="24688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Preview impact before applying.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603504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Four of the eight stages route through the Treasury Register Connector to the chosen GL destination. Amendments never break the audit trail.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4 of 12   .   PRINCIPLES -&gt; PLANNER -&gt; INITIATE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The planning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Set principles once. Run planner on demand. Initiate one plan or all N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5321F"/>
                </a:solidFill>
              </a:rPr>
              <a:t>1. Set principles (once)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Control -&gt; Investment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7432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Min rating slider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9184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Max tenor / per-name cap / concentration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Allocation buckets (must sum to 100)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Save principles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3200400"/>
            <a:ext cx="45720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17373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5321F"/>
                </a:solidFill>
              </a:rPr>
              <a:t>2. Run planner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1031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Deploy Idle Cash strip -&gt; Planner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7432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Reads settings + 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29184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Blended plan: fills buckets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Higher yield alternative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38912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Tighter concentration alternative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3200400"/>
            <a:ext cx="45720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95360" y="17373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5321F"/>
                </a:solidFill>
              </a:rPr>
              <a:t>3. Initiate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10312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Pick a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74320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Initiate one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246120"/>
            <a:ext cx="32004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342900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Initiate all N at once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02336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Each -&gt; six-check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457200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Recorded or -&gt; 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852160"/>
            <a:ext cx="11460175" cy="50292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The planner never proposes a number the six checks would refuse. Everything on the modal has been vetted before it is shown.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5 of 12   .   SIX-CHECK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The control moment - one deal in, one of three outcomes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Every path to book runs through here. PASS goes forward; OVERRIDE requires a reason; BLOCK stays in the queue.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Deal ticket
(5 fields)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3429000"/>
            <a:ext cx="36576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103120"/>
            <a:ext cx="3200400" cy="2651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CheckEngine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   1. Counterparty active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   2. Instrument permitted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   3. Entity limit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   4. Group limit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   5. Tenor band</a:t>
            </a:r>
          </a:p>
          <a:p>
            <a:pPr algn="l"/>
            <a:r>
              <a:rPr sz="1000">
                <a:solidFill>
                  <a:srgbClr val="FFFFFF"/>
                </a:solidFill>
              </a:rPr>
              <a:t>   6. Concentration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3429000"/>
            <a:ext cx="45720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6400800" y="2834640"/>
            <a:ext cx="1463040" cy="1188720"/>
          </a:xfrm>
          <a:prstGeom prst="diamond">
            <a:avLst/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1A17"/>
                </a:solidFill>
              </a:rPr>
              <a:t>Verdict?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863840" y="2103120"/>
            <a:ext cx="457200" cy="914400"/>
          </a:xfrm>
          <a:prstGeom prst="line">
            <a:avLst/>
          </a:prstGeom>
          <a:ln w="25400">
            <a:solidFill>
              <a:srgbClr val="366B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21040" y="1737360"/>
            <a:ext cx="3291840" cy="777240"/>
          </a:xfrm>
          <a:prstGeom prst="roundRect">
            <a:avLst>
              <a:gd name="adj" fmla="val 15000"/>
            </a:avLst>
          </a:prstGeom>
          <a:solidFill>
            <a:srgbClr val="DCE8D8"/>
          </a:solidFill>
          <a:ln w="12700">
            <a:solidFill>
              <a:srgbClr val="366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PASS -&gt; Record + sign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3429000"/>
            <a:ext cx="457200" cy="0"/>
          </a:xfrm>
          <a:prstGeom prst="line">
            <a:avLst/>
          </a:prstGeom>
          <a:ln w="25400">
            <a:solidFill>
              <a:srgbClr val="B563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3017520"/>
            <a:ext cx="3291840" cy="777240"/>
          </a:xfrm>
          <a:prstGeom prst="roundRect">
            <a:avLst>
              <a:gd name="adj" fmla="val 15000"/>
            </a:avLst>
          </a:prstGeom>
          <a:solidFill>
            <a:srgbClr val="F7E8D0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OVERRIDE -&gt; Reason + record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3840480"/>
            <a:ext cx="457200" cy="914400"/>
          </a:xfrm>
          <a:prstGeom prst="line">
            <a:avLst/>
          </a:prstGeom>
          <a:ln w="25400">
            <a:solidFill>
              <a:srgbClr val="DD5C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4572000"/>
            <a:ext cx="3291840" cy="777240"/>
          </a:xfrm>
          <a:prstGeom prst="roundRect">
            <a:avLst>
              <a:gd name="adj" fmla="val 15000"/>
            </a:avLst>
          </a:prstGeom>
          <a:solidFill>
            <a:srgbClr val="F7DBD0"/>
          </a:solidFill>
          <a:ln w="12700">
            <a:solidFill>
              <a:srgbClr val="DD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BLOCK -&gt; Queue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828800" y="3840480"/>
            <a:ext cx="6492240" cy="109728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0" y="5303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Resize -&gt; re-run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The six checks are recorded on every deal. "Compliant when booked" is a fact - the CheckRun stores them exactly as they stood.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6 of 12   .   AMENDMENT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Amendment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Rate / tenor / principal change on a booked deal. Never breaks the audit trail.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Raise
Evidence panel -&gt;
Raise amendment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3383280.0"/>
            <a:ext cx="1371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26080" y="22860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74320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Six-check re-run
Under the new terms.
Refuses if it would breach.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3383280.0"/>
            <a:ext cx="1371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892040" y="22860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Approve
Senior role signs.
Proposer can't approve.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3383280.0"/>
            <a:ext cx="1371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58000" y="22860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Apply
Reverse prior accruals
from effective date.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2440" y="3383280.0"/>
            <a:ext cx="1371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823960" y="22860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74320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Re-post
New accruals at
amended terms.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0" y="3383280.0"/>
            <a:ext cx="1371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789920" y="22860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743200"/>
            <a:ext cx="182880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Show
Timeline shows the
amendment applied.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72000"/>
            <a:ext cx="1146017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5F57"/>
                </a:solidFill>
              </a:rPr>
              <a:t>The accrual table stores rows per deal per day. A reversal is a new row with reversal_of pointing at the original - the original is never mutated. Both the reversal and the replacement carry the amendment_id, so an auditor can see exactly what changed on which 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Same six checks that gate a new deal also gate an amendment. Nothing bypasses the control.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7 of 12   .   BREACH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One breach - 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The breach card gives the treasurer four buttons. Each triggers a distinct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2011680"/>
            <a:ext cx="2286000" cy="822960"/>
          </a:xfrm>
          <a:prstGeom prst="roundRect">
            <a:avLst>
              <a:gd name="adj" fmla="val 15000"/>
            </a:avLst>
          </a:prstGeom>
          <a:solidFill>
            <a:srgbClr val="DD5C2A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Breach raised
(rating cut / rule change)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HOLD to maturity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6908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Stop the alert clock.
Position stays flagged.
Clears on maturity.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37360" y="2834640"/>
            <a:ext cx="4343400" cy="50292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338328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BREAK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06908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Deal -&gt; BREAKING.
Queue: settle-early.
Instruct + confirm.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389120" y="2834640"/>
            <a:ext cx="1691640" cy="50292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338328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6908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Raises PRINCIPAL_CHANGE
amendment. Standard
approval flow.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834640"/>
            <a:ext cx="1417320" cy="50292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0" y="338328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406908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1F1A17"/>
                </a:solidFill>
              </a:rPr>
              <a:t>Marks ROLL_TO_MATURITY.
On maturity: propose new
deal at chosen counterparty.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834640"/>
            <a:ext cx="4434840" cy="50292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5532120"/>
            <a:ext cx="1146017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5F57"/>
                </a:solidFill>
              </a:rPr>
              <a:t>Every response is a real write - status change, amendment, or a scheduled roll. The Register never silently accepts a breach.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Reduce and Roll both trigger the amendment / new-deal workflow, so they still pass the six-check gate.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8 of 12   .   CONFIRMATION -&gt;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Confirmation parser and match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Paste -&gt; AI extracts fields -&gt; human reviews -&gt; ingest -&gt; four possible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Paste
Bank email
SWIFT MT320
PDF text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2651760.0"/>
            <a:ext cx="18288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01168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AI extract
Model reads text.
Extracts fields.
Confidence per field.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2651760.0"/>
            <a:ext cx="18288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201168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Review
Human corrects.
Low-confidence
fields highlighted.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651760.0"/>
            <a:ext cx="18288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80" y="2011680"/>
            <a:ext cx="2194560" cy="128016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Ingest
Six checks gate
the insert.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92640" y="2286000"/>
            <a:ext cx="2103120" cy="914400"/>
          </a:xfrm>
          <a:prstGeom prst="diamond">
            <a:avLst/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1A17"/>
                </a:solidFill>
              </a:rPr>
              <a:t>Match?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2651760" cy="685800"/>
          </a:xfrm>
          <a:prstGeom prst="roundRect">
            <a:avLst>
              <a:gd name="adj" fmla="val 15000"/>
            </a:avLst>
          </a:prstGeom>
          <a:solidFill>
            <a:srgbClr val="DCE8D8"/>
          </a:solidFill>
          <a:ln w="12700">
            <a:solidFill>
              <a:srgbClr val="366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A17"/>
                </a:solidFill>
              </a:rPr>
              <a:t>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All fields agree.</a:t>
            </a:r>
          </a:p>
          <a:p>
            <a:pPr algn="ctr"/>
            <a:r>
              <a:rPr sz="900" b="0" i="1">
                <a:solidFill>
                  <a:srgbClr val="6B5F57"/>
                </a:solidFill>
              </a:rPr>
              <a:t>Nothing to 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703320"/>
            <a:ext cx="2651760" cy="685800"/>
          </a:xfrm>
          <a:prstGeom prst="roundRect">
            <a:avLst>
              <a:gd name="adj" fmla="val 15000"/>
            </a:avLst>
          </a:prstGeom>
          <a:solidFill>
            <a:srgbClr val="F7E8D0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A17"/>
                </a:solidFill>
              </a:rPr>
              <a:t>MISMATCHED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43484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Fields disagree.</a:t>
            </a:r>
          </a:p>
          <a:p>
            <a:pPr algn="ctr"/>
            <a:r>
              <a:rPr sz="900" b="0" i="1">
                <a:solidFill>
                  <a:srgbClr val="6B5F57"/>
                </a:solidFill>
              </a:rPr>
              <a:t>-&gt; Queue.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703320"/>
            <a:ext cx="2651760" cy="685800"/>
          </a:xfrm>
          <a:prstGeom prst="roundRect">
            <a:avLst>
              <a:gd name="adj" fmla="val 15000"/>
            </a:avLst>
          </a:prstGeom>
          <a:solidFill>
            <a:srgbClr val="F7DBD0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A17"/>
                </a:solidFill>
              </a:rPr>
              <a:t>DISPUTED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43484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Bank contacted.</a:t>
            </a:r>
          </a:p>
          <a:p>
            <a:pPr algn="ctr"/>
            <a:r>
              <a:rPr sz="900" b="0" i="1">
                <a:solidFill>
                  <a:srgbClr val="6B5F57"/>
                </a:solidFill>
              </a:rPr>
              <a:t>-&gt; Queue.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703320"/>
            <a:ext cx="2651760" cy="685800"/>
          </a:xfrm>
          <a:prstGeom prst="roundRect">
            <a:avLst>
              <a:gd name="adj" fmla="val 15000"/>
            </a:avLst>
          </a:prstGeom>
          <a:solidFill>
            <a:srgbClr val="F7DBD0"/>
          </a:solidFill>
          <a:ln w="12700">
            <a:solidFill>
              <a:srgbClr val="DD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A17"/>
                </a:solidFill>
              </a:rPr>
              <a:t>UNMATCHED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43484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B5F57"/>
                </a:solidFill>
              </a:rPr>
              <a:t>No deal to match.</a:t>
            </a:r>
          </a:p>
          <a:p>
            <a:pPr algn="ctr"/>
            <a:r>
              <a:rPr sz="900" b="0" i="1">
                <a:solidFill>
                  <a:srgbClr val="6B5F57"/>
                </a:solidFill>
              </a:rPr>
              <a:t>-&gt; Queue.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943600" y="3291840"/>
            <a:ext cx="4800600" cy="365760"/>
          </a:xfrm>
          <a:prstGeom prst="line">
            <a:avLst/>
          </a:prstGeom>
          <a:ln w="1524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534924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5F57"/>
                </a:solidFill>
              </a:rPr>
              <a:t>Reconcile: Accept (amendment) / Dispute (note to bank) / Reject (audit) / for UNMATCHED: raise a new deal.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The model proposes; the person reviews; the six checks dispose. A confirmation never bypasses the checks.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9 of 12   .   ACCOUNTING EVENT -&gt; CONNECTOR -&gt; 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How an event reaches the General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Not through OIC. Through our own Treasury Register Connector.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743200"/>
            <a:ext cx="228600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Deal stage fires
(executed / settled
/ accrued / matured)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3429000"/>
            <a:ext cx="54864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3200400" y="2834640"/>
            <a:ext cx="1828800" cy="1188720"/>
          </a:xfrm>
          <a:prstGeom prst="diamond">
            <a:avLst/>
          </a:prstGeom>
          <a:solidFill>
            <a:srgbClr val="F6EFE7"/>
          </a:solidFill>
          <a:ln w="12700">
            <a:solidFill>
              <a:srgbClr val="B56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1F1A17"/>
                </a:solidFill>
              </a:rPr>
              <a:t>Toggled ON
in catalogue?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429000"/>
            <a:ext cx="54864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35204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366B41"/>
                </a:solidFill>
              </a:rPr>
              <a:t>yes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4023360"/>
            <a:ext cx="0" cy="822960"/>
          </a:xfrm>
          <a:prstGeom prst="line">
            <a:avLst/>
          </a:prstGeom>
          <a:ln w="12700">
            <a:solidFill>
              <a:srgbClr val="6B5F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240" y="4114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6B5F57"/>
                </a:solidFill>
              </a:rPr>
              <a:t>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846320"/>
            <a:ext cx="18288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No journal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468880"/>
            <a:ext cx="3200400" cy="192024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Treasury Register
Connector</a:t>
            </a:r>
          </a:p>
          <a:p>
            <a:pPr algn="ctr"/>
            <a:r>
              <a:rPr sz="1000" i="1">
                <a:solidFill>
                  <a:srgbClr val="FAF5EE"/>
                </a:solidFill>
              </a:rPr>
              <a:t>
FIRST-PARTY
No Oracle Integration Cloud.
No separate PaaS SKU.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3429000"/>
            <a:ext cx="548640" cy="0"/>
          </a:xfrm>
          <a:prstGeom prst="line">
            <a:avLst/>
          </a:prstGeom>
          <a:ln w="2540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0" y="2103120"/>
            <a:ext cx="246888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Oracle Fusion AHCS  (default)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743200"/>
            <a:ext cx="246888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Oracle Fusion GL (direct import)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383280"/>
            <a:ext cx="246888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Oracle EBS General 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023360"/>
            <a:ext cx="246888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F1A17"/>
                </a:solidFill>
              </a:rPr>
              <a:t>Custom REST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486400"/>
            <a:ext cx="1146017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5F57"/>
                </a:solidFill>
              </a:rPr>
              <a:t>Which stages fire and which destination they reach is config, edited in Control -&gt; Accounting events - not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The Connector is our IP. One less SKU the client buys from Oracle. Reusable across every Fusion Practices product.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10 of 12   .   RATING-CHANGE WHAT-IF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Preview a rating cut before applying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Anil at Sep-7: "That's very good, actually."</a:t>
            </a:r>
          </a:p>
        </p:txBody>
      </p:sp>
      <p:sp>
        <p:nvSpPr>
          <p:cNvPr id="5" name="Oval 4"/>
          <p:cNvSpPr/>
          <p:nvPr/>
        </p:nvSpPr>
        <p:spPr>
          <a:xfrm>
            <a:off x="1417320" y="18288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1A17"/>
                </a:solidFill>
              </a:rPr>
              <a:t>Pick
Counterparty +
hypothetical rating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971800.0"/>
            <a:ext cx="27432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69080" y="18288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28600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1A17"/>
                </a:solidFill>
              </a:rPr>
              <a:t>Model classifies
For each open deal
under that name...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2971800.0"/>
            <a:ext cx="27432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720840" y="18288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28600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1A17"/>
                </a:solidFill>
              </a:rPr>
              <a:t>Preview
Green: still passes
Amber: will breach
Red: was already breaching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2971800.0"/>
            <a:ext cx="27432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72600" y="1828800"/>
            <a:ext cx="640080" cy="640080"/>
          </a:xfrm>
          <a:prstGeom prst="ellipse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28600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1A17"/>
                </a:solidFill>
              </a:rPr>
              <a:t>Decide
Apply / Cancel /
Adjust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A5321F"/>
                </a:solidFill>
              </a:rPr>
              <a:t>The model just picks a label.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B5F57"/>
                </a:solidFill>
              </a:rPr>
              <a:t>The CheckEngine actually re-runs the six checks under the hypothetical. If the model is unreachable, the label is computed deterministically from the CheckRun result and the panel opens as if nothing was different.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Same pattern as every AI feature: the model proposes, deterministic code disposes. No number the model quotes is invented.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11 of 12   .   AI FEATURE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Where AI sits in the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Every AI feature attaches to a specific process step. Not decoration.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50292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Plan the deployment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2286000.0"/>
            <a:ext cx="3657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60720" y="2011680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Planner narrator - labels +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0292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Extract confirmation fields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2926080.0"/>
            <a:ext cx="3657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60720" y="2651760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Confirmation parser - Read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91840"/>
            <a:ext cx="50292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Advise nightly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3566160.0"/>
            <a:ext cx="3657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60720" y="3291840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Advisory ranker - Rank pattern with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50292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Review performance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60" y="4206240.0"/>
            <a:ext cx="3657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60720" y="3931920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Insights - lens-tinted narrative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572000"/>
            <a:ext cx="50292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Preview a rating cut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4846320.0"/>
            <a:ext cx="3657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60720" y="4572000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What-if classifier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212080"/>
            <a:ext cx="5029200" cy="548640"/>
          </a:xfrm>
          <a:prstGeom prst="roundRect">
            <a:avLst>
              <a:gd name="adj" fmla="val 15000"/>
            </a:avLst>
          </a:prstGeom>
          <a:solidFill>
            <a:srgbClr val="FAF5EE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F1A17"/>
                </a:solidFill>
              </a:rPr>
              <a:t>Rerun nightly job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60" y="5486400.0"/>
            <a:ext cx="365760" cy="0.0"/>
          </a:xfrm>
          <a:prstGeom prst="line">
            <a:avLst/>
          </a:prstGeom>
          <a:ln w="19050">
            <a:solidFill>
              <a:srgbClr val="A532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60720" y="5212080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Nightly digest banner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32120"/>
            <a:ext cx="1146017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5F57"/>
                </a:solidFill>
              </a:rPr>
              <a:t>Six AI features. Every one has a deterministic fallback. Every prose figure is checked against a computed value.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is always paired with a rule. A model that goes down does not stop the workflow - it just stops writing prose.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5321F"/>
                </a:solidFill>
              </a:rPr>
              <a:t>SLIDE 12 of 12   . 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1A17"/>
                </a:solidFill>
              </a:rPr>
              <a:t>Ten flows, one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5F57"/>
                </a:solidFill>
              </a:rPr>
              <a:t>The Register is the middle lane - decisions gated, integrations first-party, AI paired with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EPM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4884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F1A17"/>
                </a:solidFill>
              </a:rPr>
              <a:t>positioning +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Register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889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F1A17"/>
                </a:solidFill>
              </a:rPr>
              <a:t>principles -&gt; planner -&gt; six checks -&gt; 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A5321F"/>
          </a:solidFill>
          <a:ln w="12700"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Fusion moves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4290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F1A17"/>
                </a:solidFill>
              </a:rPr>
              <a:t>payment + accounting hub + GL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A5321F"/>
                </a:solidFill>
              </a:rPr>
              <a:t>Four things the Register always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1A17"/>
                </a:solidFill>
              </a:rPr>
              <a:t>  •  Every deal passes the six-check gate. Recorded, not recomputed.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1A17"/>
                </a:solidFill>
              </a:rPr>
              <a:t>  •  Every integration flows through the Treasury Register Connector - first-party, not OIC.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1A17"/>
                </a:solidFill>
              </a:rPr>
              <a:t>  •  Every AI feature has a deterministic fallback. Nothing is only-AI.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1A17"/>
                </a:solidFill>
              </a:rPr>
              <a:t>  •  Every visible figure names its source. Provider on ratings, ISIN on instruments, destination on accounting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11460175" cy="365760"/>
          </a:xfrm>
          <a:prstGeom prst="roundRect">
            <a:avLst/>
          </a:prstGeom>
          <a:solidFill>
            <a:srgbClr val="A5321F"/>
          </a:solidFill>
          <a:ln>
            <a:solidFill>
              <a:srgbClr val="A53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Now the demo. Same flows,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29A92"/>
                </a:solidFill>
              </a:rPr>
              <a:t>Treasury Register  .  Process flows  .  Fusion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A29A92"/>
                </a:solidFill>
              </a:rPr>
              <a:t>slide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28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A5321F"/>
                </a:solidFill>
              </a:rPr>
              <a:t>TREASURY REGISTER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